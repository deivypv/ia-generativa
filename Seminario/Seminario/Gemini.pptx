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nton" charset="1" panose="00000500000000000000"/>
      <p:regular r:id="rId14"/>
    </p:embeddedFon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  <p:embeddedFont>
      <p:font typeface="Helvetica World" charset="1" panose="020B0500040000020004"/>
      <p:regular r:id="rId17"/>
    </p:embeddedFont>
    <p:embeddedFont>
      <p:font typeface="Helvetica World Bold" charset="1" panose="020B0800040000020004"/>
      <p:regular r:id="rId18"/>
    </p:embeddedFont>
    <p:embeddedFont>
      <p:font typeface="Times New Roman MT Condensed Italics" charset="1" panose="020305060704050903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57202"/>
            <a:ext cx="18288000" cy="8172596"/>
            <a:chOff x="0" y="0"/>
            <a:chExt cx="4816593" cy="21524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152453"/>
            </a:xfrm>
            <a:custGeom>
              <a:avLst/>
              <a:gdLst/>
              <a:ahLst/>
              <a:cxnLst/>
              <a:rect r="r" b="b" t="t" l="l"/>
              <a:pathLst>
                <a:path h="215245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52453"/>
                  </a:lnTo>
                  <a:lnTo>
                    <a:pt x="0" y="2152453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25000">
                  <a:srgbClr val="FFFFFF">
                    <a:alpha val="80000"/>
                  </a:srgbClr>
                </a:gs>
                <a:gs pos="50000">
                  <a:srgbClr val="FFFFFF">
                    <a:alpha val="100000"/>
                  </a:srgbClr>
                </a:gs>
                <a:gs pos="75000">
                  <a:srgbClr val="FFFFFF">
                    <a:alpha val="8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190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13368288" y="4800600"/>
            <a:ext cx="1618442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3301270" y="4800600"/>
            <a:ext cx="1618442" cy="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917896" y="1550887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01736" y="6509892"/>
            <a:ext cx="4982581" cy="4982581"/>
          </a:xfrm>
          <a:custGeom>
            <a:avLst/>
            <a:gdLst/>
            <a:ahLst/>
            <a:cxnLst/>
            <a:rect r="r" b="b" t="t" l="l"/>
            <a:pathLst>
              <a:path h="4982581" w="4982581">
                <a:moveTo>
                  <a:pt x="0" y="0"/>
                </a:moveTo>
                <a:lnTo>
                  <a:pt x="4982582" y="0"/>
                </a:lnTo>
                <a:lnTo>
                  <a:pt x="4982582" y="4982581"/>
                </a:lnTo>
                <a:lnTo>
                  <a:pt x="0" y="4982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907154" y="-1186478"/>
            <a:ext cx="4982581" cy="4982581"/>
          </a:xfrm>
          <a:custGeom>
            <a:avLst/>
            <a:gdLst/>
            <a:ahLst/>
            <a:cxnLst/>
            <a:rect r="r" b="b" t="t" l="l"/>
            <a:pathLst>
              <a:path h="4982581" w="4982581">
                <a:moveTo>
                  <a:pt x="4982582" y="4982581"/>
                </a:moveTo>
                <a:lnTo>
                  <a:pt x="0" y="4982581"/>
                </a:lnTo>
                <a:lnTo>
                  <a:pt x="0" y="0"/>
                </a:lnTo>
                <a:lnTo>
                  <a:pt x="4982582" y="0"/>
                </a:lnTo>
                <a:lnTo>
                  <a:pt x="4982582" y="498258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6469" y="-2437041"/>
            <a:ext cx="4838633" cy="4874081"/>
          </a:xfrm>
          <a:custGeom>
            <a:avLst/>
            <a:gdLst/>
            <a:ahLst/>
            <a:cxnLst/>
            <a:rect r="r" b="b" t="t" l="l"/>
            <a:pathLst>
              <a:path h="4874081" w="4838633">
                <a:moveTo>
                  <a:pt x="0" y="0"/>
                </a:moveTo>
                <a:lnTo>
                  <a:pt x="4838633" y="0"/>
                </a:lnTo>
                <a:lnTo>
                  <a:pt x="4838633" y="4874082"/>
                </a:lnTo>
                <a:lnTo>
                  <a:pt x="0" y="4874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3985813" y="7849959"/>
            <a:ext cx="4838633" cy="4874081"/>
          </a:xfrm>
          <a:custGeom>
            <a:avLst/>
            <a:gdLst/>
            <a:ahLst/>
            <a:cxnLst/>
            <a:rect r="r" b="b" t="t" l="l"/>
            <a:pathLst>
              <a:path h="4874081" w="4838633">
                <a:moveTo>
                  <a:pt x="4838634" y="4874082"/>
                </a:moveTo>
                <a:lnTo>
                  <a:pt x="0" y="4874082"/>
                </a:lnTo>
                <a:lnTo>
                  <a:pt x="0" y="0"/>
                </a:lnTo>
                <a:lnTo>
                  <a:pt x="4838634" y="0"/>
                </a:lnTo>
                <a:lnTo>
                  <a:pt x="4838634" y="487408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96231" y="3088405"/>
            <a:ext cx="3999635" cy="3349551"/>
            <a:chOff x="0" y="0"/>
            <a:chExt cx="1074402" cy="8997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4402" cy="899773"/>
            </a:xfrm>
            <a:custGeom>
              <a:avLst/>
              <a:gdLst/>
              <a:ahLst/>
              <a:cxnLst/>
              <a:rect r="r" b="b" t="t" l="l"/>
              <a:pathLst>
                <a:path h="899773" w="1074402">
                  <a:moveTo>
                    <a:pt x="98718" y="0"/>
                  </a:moveTo>
                  <a:lnTo>
                    <a:pt x="975684" y="0"/>
                  </a:lnTo>
                  <a:cubicBezTo>
                    <a:pt x="1001865" y="0"/>
                    <a:pt x="1026975" y="10401"/>
                    <a:pt x="1045488" y="28914"/>
                  </a:cubicBezTo>
                  <a:cubicBezTo>
                    <a:pt x="1064002" y="47427"/>
                    <a:pt x="1074402" y="72537"/>
                    <a:pt x="1074402" y="98718"/>
                  </a:cubicBezTo>
                  <a:lnTo>
                    <a:pt x="1074402" y="801055"/>
                  </a:lnTo>
                  <a:cubicBezTo>
                    <a:pt x="1074402" y="855575"/>
                    <a:pt x="1030204" y="899773"/>
                    <a:pt x="975684" y="899773"/>
                  </a:cubicBezTo>
                  <a:lnTo>
                    <a:pt x="98718" y="899773"/>
                  </a:lnTo>
                  <a:cubicBezTo>
                    <a:pt x="72537" y="899773"/>
                    <a:pt x="47427" y="889373"/>
                    <a:pt x="28914" y="870859"/>
                  </a:cubicBezTo>
                  <a:cubicBezTo>
                    <a:pt x="10401" y="852346"/>
                    <a:pt x="0" y="827236"/>
                    <a:pt x="0" y="801055"/>
                  </a:cubicBezTo>
                  <a:lnTo>
                    <a:pt x="0" y="98718"/>
                  </a:lnTo>
                  <a:cubicBezTo>
                    <a:pt x="0" y="44198"/>
                    <a:pt x="44198" y="0"/>
                    <a:pt x="98718" y="0"/>
                  </a:cubicBezTo>
                  <a:close/>
                </a:path>
              </a:pathLst>
            </a:custGeom>
            <a:ln w="6667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074402" cy="947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272164" y="2675166"/>
            <a:ext cx="826478" cy="826478"/>
          </a:xfrm>
          <a:custGeom>
            <a:avLst/>
            <a:gdLst/>
            <a:ahLst/>
            <a:cxnLst/>
            <a:rect r="r" b="b" t="t" l="l"/>
            <a:pathLst>
              <a:path h="826478" w="826478">
                <a:moveTo>
                  <a:pt x="0" y="0"/>
                </a:moveTo>
                <a:lnTo>
                  <a:pt x="826478" y="0"/>
                </a:lnTo>
                <a:lnTo>
                  <a:pt x="826478" y="826478"/>
                </a:lnTo>
                <a:lnTo>
                  <a:pt x="0" y="82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144182" y="3088405"/>
            <a:ext cx="3999635" cy="3349551"/>
            <a:chOff x="0" y="0"/>
            <a:chExt cx="1074402" cy="8997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4402" cy="899773"/>
            </a:xfrm>
            <a:custGeom>
              <a:avLst/>
              <a:gdLst/>
              <a:ahLst/>
              <a:cxnLst/>
              <a:rect r="r" b="b" t="t" l="l"/>
              <a:pathLst>
                <a:path h="899773" w="1074402">
                  <a:moveTo>
                    <a:pt x="98718" y="0"/>
                  </a:moveTo>
                  <a:lnTo>
                    <a:pt x="975684" y="0"/>
                  </a:lnTo>
                  <a:cubicBezTo>
                    <a:pt x="1001865" y="0"/>
                    <a:pt x="1026975" y="10401"/>
                    <a:pt x="1045488" y="28914"/>
                  </a:cubicBezTo>
                  <a:cubicBezTo>
                    <a:pt x="1064002" y="47427"/>
                    <a:pt x="1074402" y="72537"/>
                    <a:pt x="1074402" y="98718"/>
                  </a:cubicBezTo>
                  <a:lnTo>
                    <a:pt x="1074402" y="801055"/>
                  </a:lnTo>
                  <a:cubicBezTo>
                    <a:pt x="1074402" y="855575"/>
                    <a:pt x="1030204" y="899773"/>
                    <a:pt x="975684" y="899773"/>
                  </a:cubicBezTo>
                  <a:lnTo>
                    <a:pt x="98718" y="899773"/>
                  </a:lnTo>
                  <a:cubicBezTo>
                    <a:pt x="72537" y="899773"/>
                    <a:pt x="47427" y="889373"/>
                    <a:pt x="28914" y="870859"/>
                  </a:cubicBezTo>
                  <a:cubicBezTo>
                    <a:pt x="10401" y="852346"/>
                    <a:pt x="0" y="827236"/>
                    <a:pt x="0" y="801055"/>
                  </a:cubicBezTo>
                  <a:lnTo>
                    <a:pt x="0" y="98718"/>
                  </a:lnTo>
                  <a:cubicBezTo>
                    <a:pt x="0" y="44198"/>
                    <a:pt x="44198" y="0"/>
                    <a:pt x="98718" y="0"/>
                  </a:cubicBezTo>
                  <a:close/>
                </a:path>
              </a:pathLst>
            </a:custGeom>
            <a:ln w="6667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74402" cy="947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720115" y="2675166"/>
            <a:ext cx="826478" cy="826478"/>
          </a:xfrm>
          <a:custGeom>
            <a:avLst/>
            <a:gdLst/>
            <a:ahLst/>
            <a:cxnLst/>
            <a:rect r="r" b="b" t="t" l="l"/>
            <a:pathLst>
              <a:path h="826478" w="826478">
                <a:moveTo>
                  <a:pt x="0" y="0"/>
                </a:moveTo>
                <a:lnTo>
                  <a:pt x="826478" y="0"/>
                </a:lnTo>
                <a:lnTo>
                  <a:pt x="826478" y="826478"/>
                </a:lnTo>
                <a:lnTo>
                  <a:pt x="0" y="82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592133" y="3088405"/>
            <a:ext cx="3999635" cy="3349551"/>
            <a:chOff x="0" y="0"/>
            <a:chExt cx="1074402" cy="8997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4402" cy="899773"/>
            </a:xfrm>
            <a:custGeom>
              <a:avLst/>
              <a:gdLst/>
              <a:ahLst/>
              <a:cxnLst/>
              <a:rect r="r" b="b" t="t" l="l"/>
              <a:pathLst>
                <a:path h="899773" w="1074402">
                  <a:moveTo>
                    <a:pt x="98718" y="0"/>
                  </a:moveTo>
                  <a:lnTo>
                    <a:pt x="975684" y="0"/>
                  </a:lnTo>
                  <a:cubicBezTo>
                    <a:pt x="1001865" y="0"/>
                    <a:pt x="1026975" y="10401"/>
                    <a:pt x="1045488" y="28914"/>
                  </a:cubicBezTo>
                  <a:cubicBezTo>
                    <a:pt x="1064002" y="47427"/>
                    <a:pt x="1074402" y="72537"/>
                    <a:pt x="1074402" y="98718"/>
                  </a:cubicBezTo>
                  <a:lnTo>
                    <a:pt x="1074402" y="801055"/>
                  </a:lnTo>
                  <a:cubicBezTo>
                    <a:pt x="1074402" y="855575"/>
                    <a:pt x="1030204" y="899773"/>
                    <a:pt x="975684" y="899773"/>
                  </a:cubicBezTo>
                  <a:lnTo>
                    <a:pt x="98718" y="899773"/>
                  </a:lnTo>
                  <a:cubicBezTo>
                    <a:pt x="72537" y="899773"/>
                    <a:pt x="47427" y="889373"/>
                    <a:pt x="28914" y="870859"/>
                  </a:cubicBezTo>
                  <a:cubicBezTo>
                    <a:pt x="10401" y="852346"/>
                    <a:pt x="0" y="827236"/>
                    <a:pt x="0" y="801055"/>
                  </a:cubicBezTo>
                  <a:lnTo>
                    <a:pt x="0" y="98718"/>
                  </a:lnTo>
                  <a:cubicBezTo>
                    <a:pt x="0" y="44198"/>
                    <a:pt x="44198" y="0"/>
                    <a:pt x="98718" y="0"/>
                  </a:cubicBezTo>
                  <a:close/>
                </a:path>
              </a:pathLst>
            </a:custGeom>
            <a:ln w="66675" cap="rnd">
              <a:solidFill>
                <a:srgbClr val="333333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74402" cy="947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168067" y="2675166"/>
            <a:ext cx="826478" cy="826478"/>
          </a:xfrm>
          <a:custGeom>
            <a:avLst/>
            <a:gdLst/>
            <a:ahLst/>
            <a:cxnLst/>
            <a:rect r="r" b="b" t="t" l="l"/>
            <a:pathLst>
              <a:path h="826478" w="826478">
                <a:moveTo>
                  <a:pt x="0" y="0"/>
                </a:moveTo>
                <a:lnTo>
                  <a:pt x="826478" y="0"/>
                </a:lnTo>
                <a:lnTo>
                  <a:pt x="826478" y="826478"/>
                </a:lnTo>
                <a:lnTo>
                  <a:pt x="0" y="82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198673" y="3993420"/>
            <a:ext cx="2973461" cy="1672572"/>
          </a:xfrm>
          <a:custGeom>
            <a:avLst/>
            <a:gdLst/>
            <a:ahLst/>
            <a:cxnLst/>
            <a:rect r="r" b="b" t="t" l="l"/>
            <a:pathLst>
              <a:path h="1672572" w="2973461">
                <a:moveTo>
                  <a:pt x="0" y="0"/>
                </a:moveTo>
                <a:lnTo>
                  <a:pt x="2973461" y="0"/>
                </a:lnTo>
                <a:lnTo>
                  <a:pt x="2973461" y="1672571"/>
                </a:lnTo>
                <a:lnTo>
                  <a:pt x="0" y="1672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020858" y="3258553"/>
            <a:ext cx="3009255" cy="3009255"/>
          </a:xfrm>
          <a:custGeom>
            <a:avLst/>
            <a:gdLst/>
            <a:ahLst/>
            <a:cxnLst/>
            <a:rect r="r" b="b" t="t" l="l"/>
            <a:pathLst>
              <a:path h="3009255" w="3009255">
                <a:moveTo>
                  <a:pt x="0" y="0"/>
                </a:moveTo>
                <a:lnTo>
                  <a:pt x="3009255" y="0"/>
                </a:lnTo>
                <a:lnTo>
                  <a:pt x="3009255" y="3009255"/>
                </a:lnTo>
                <a:lnTo>
                  <a:pt x="0" y="30092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780773" y="3862023"/>
            <a:ext cx="2705163" cy="1802315"/>
          </a:xfrm>
          <a:custGeom>
            <a:avLst/>
            <a:gdLst/>
            <a:ahLst/>
            <a:cxnLst/>
            <a:rect r="r" b="b" t="t" l="l"/>
            <a:pathLst>
              <a:path h="1802315" w="2705163">
                <a:moveTo>
                  <a:pt x="0" y="0"/>
                </a:moveTo>
                <a:lnTo>
                  <a:pt x="2705163" y="0"/>
                </a:lnTo>
                <a:lnTo>
                  <a:pt x="2705163" y="1802314"/>
                </a:lnTo>
                <a:lnTo>
                  <a:pt x="0" y="1802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409847" y="895350"/>
            <a:ext cx="5468306" cy="117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1"/>
              </a:lnSpc>
            </a:pPr>
            <a:r>
              <a:rPr lang="en-US" sz="6886">
                <a:solidFill>
                  <a:srgbClr val="333333"/>
                </a:solidFill>
                <a:latin typeface="Anton"/>
                <a:ea typeface="Anton"/>
                <a:cs typeface="Anton"/>
                <a:sym typeface="Anton"/>
              </a:rPr>
              <a:t>EVOLUCIÓN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25670"/>
            <a:ext cx="6241995" cy="4161330"/>
          </a:xfrm>
          <a:custGeom>
            <a:avLst/>
            <a:gdLst/>
            <a:ahLst/>
            <a:cxnLst/>
            <a:rect r="r" b="b" t="t" l="l"/>
            <a:pathLst>
              <a:path h="4161330" w="6241995">
                <a:moveTo>
                  <a:pt x="0" y="0"/>
                </a:moveTo>
                <a:lnTo>
                  <a:pt x="6241995" y="0"/>
                </a:lnTo>
                <a:lnTo>
                  <a:pt x="6241995" y="4161330"/>
                </a:lnTo>
                <a:lnTo>
                  <a:pt x="0" y="4161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57600" y="1894189"/>
            <a:ext cx="5040144" cy="4994324"/>
          </a:xfrm>
          <a:custGeom>
            <a:avLst/>
            <a:gdLst/>
            <a:ahLst/>
            <a:cxnLst/>
            <a:rect r="r" b="b" t="t" l="l"/>
            <a:pathLst>
              <a:path h="4994324" w="5040144">
                <a:moveTo>
                  <a:pt x="0" y="0"/>
                </a:moveTo>
                <a:lnTo>
                  <a:pt x="5040144" y="0"/>
                </a:lnTo>
                <a:lnTo>
                  <a:pt x="5040144" y="4994325"/>
                </a:lnTo>
                <a:lnTo>
                  <a:pt x="0" y="4994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33531" y="1894189"/>
            <a:ext cx="5225790" cy="4969252"/>
          </a:xfrm>
          <a:custGeom>
            <a:avLst/>
            <a:gdLst/>
            <a:ahLst/>
            <a:cxnLst/>
            <a:rect r="r" b="b" t="t" l="l"/>
            <a:pathLst>
              <a:path h="4969252" w="5225790">
                <a:moveTo>
                  <a:pt x="0" y="0"/>
                </a:moveTo>
                <a:lnTo>
                  <a:pt x="5225790" y="0"/>
                </a:lnTo>
                <a:lnTo>
                  <a:pt x="5225790" y="4969252"/>
                </a:lnTo>
                <a:lnTo>
                  <a:pt x="0" y="49692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4114800" cy="4083863"/>
          </a:xfrm>
          <a:custGeom>
            <a:avLst/>
            <a:gdLst/>
            <a:ahLst/>
            <a:cxnLst/>
            <a:rect r="r" b="b" t="t" l="l"/>
            <a:pathLst>
              <a:path h="4083863" w="4114800">
                <a:moveTo>
                  <a:pt x="0" y="0"/>
                </a:moveTo>
                <a:lnTo>
                  <a:pt x="4114800" y="0"/>
                </a:lnTo>
                <a:lnTo>
                  <a:pt x="4114800" y="4083863"/>
                </a:lnTo>
                <a:lnTo>
                  <a:pt x="0" y="40838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57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09847" y="375541"/>
            <a:ext cx="5468306" cy="117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1"/>
              </a:lnSpc>
            </a:pPr>
            <a:r>
              <a:rPr lang="en-US" sz="6886">
                <a:solidFill>
                  <a:srgbClr val="333333"/>
                </a:solidFill>
                <a:latin typeface="Anton"/>
                <a:ea typeface="Anton"/>
                <a:cs typeface="Anton"/>
                <a:sym typeface="Anton"/>
              </a:rPr>
              <a:t>CONSTRUCCIÓN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31036" y="2202656"/>
            <a:ext cx="3446318" cy="1180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Multimodalidad</a:t>
            </a:r>
          </a:p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Nativa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20888" y="2502680"/>
            <a:ext cx="917864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14173200" y="6173929"/>
            <a:ext cx="4114800" cy="4083863"/>
          </a:xfrm>
          <a:custGeom>
            <a:avLst/>
            <a:gdLst/>
            <a:ahLst/>
            <a:cxnLst/>
            <a:rect r="r" b="b" t="t" l="l"/>
            <a:pathLst>
              <a:path h="4083863" w="4114800">
                <a:moveTo>
                  <a:pt x="0" y="0"/>
                </a:moveTo>
                <a:lnTo>
                  <a:pt x="4114800" y="0"/>
                </a:lnTo>
                <a:lnTo>
                  <a:pt x="4114800" y="4083862"/>
                </a:lnTo>
                <a:lnTo>
                  <a:pt x="0" y="40838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757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88211" y="3742464"/>
            <a:ext cx="3002606" cy="207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Capacidad de procesar en su modalidad nativa: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Imágenes → Píxeles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Audios → Ondas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13836" y="3742464"/>
            <a:ext cx="3002606" cy="207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Mixture of Experts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Activa subredes neuronales con la relevancia como criterio.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114800" cy="4083863"/>
          </a:xfrm>
          <a:custGeom>
            <a:avLst/>
            <a:gdLst/>
            <a:ahLst/>
            <a:cxnLst/>
            <a:rect r="r" b="b" t="t" l="l"/>
            <a:pathLst>
              <a:path h="4083863" w="4114800">
                <a:moveTo>
                  <a:pt x="0" y="0"/>
                </a:moveTo>
                <a:lnTo>
                  <a:pt x="4114800" y="0"/>
                </a:lnTo>
                <a:lnTo>
                  <a:pt x="4114800" y="4083863"/>
                </a:lnTo>
                <a:lnTo>
                  <a:pt x="0" y="4083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57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4173200" y="6173929"/>
            <a:ext cx="4114800" cy="4083863"/>
          </a:xfrm>
          <a:custGeom>
            <a:avLst/>
            <a:gdLst/>
            <a:ahLst/>
            <a:cxnLst/>
            <a:rect r="r" b="b" t="t" l="l"/>
            <a:pathLst>
              <a:path h="4083863" w="4114800">
                <a:moveTo>
                  <a:pt x="0" y="0"/>
                </a:moveTo>
                <a:lnTo>
                  <a:pt x="4114800" y="0"/>
                </a:lnTo>
                <a:lnTo>
                  <a:pt x="4114800" y="4083862"/>
                </a:lnTo>
                <a:lnTo>
                  <a:pt x="0" y="4083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757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87846" y="5620756"/>
            <a:ext cx="8232191" cy="3765299"/>
          </a:xfrm>
          <a:custGeom>
            <a:avLst/>
            <a:gdLst/>
            <a:ahLst/>
            <a:cxnLst/>
            <a:rect r="r" b="b" t="t" l="l"/>
            <a:pathLst>
              <a:path h="3765299" w="8232191">
                <a:moveTo>
                  <a:pt x="0" y="0"/>
                </a:moveTo>
                <a:lnTo>
                  <a:pt x="8232191" y="0"/>
                </a:lnTo>
                <a:lnTo>
                  <a:pt x="8232191" y="3765299"/>
                </a:lnTo>
                <a:lnTo>
                  <a:pt x="0" y="3765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55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9847" y="375541"/>
            <a:ext cx="5468306" cy="117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1"/>
              </a:lnSpc>
            </a:pPr>
            <a:r>
              <a:rPr lang="en-US" sz="6886">
                <a:solidFill>
                  <a:srgbClr val="333333"/>
                </a:solidFill>
                <a:latin typeface="Anton"/>
                <a:ea typeface="Anton"/>
                <a:cs typeface="Anton"/>
                <a:sym typeface="Anton"/>
              </a:rPr>
              <a:t>ARQUITECTURA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04436" y="2747299"/>
            <a:ext cx="3480954" cy="887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Size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22252" y="1718412"/>
            <a:ext cx="1324841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ULTRA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51718" y="3054058"/>
            <a:ext cx="865909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67498" y="4386896"/>
            <a:ext cx="1272886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NANO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5864749" y="2041931"/>
            <a:ext cx="2085858" cy="133564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1" id="11"/>
          <p:cNvSpPr/>
          <p:nvPr/>
        </p:nvSpPr>
        <p:spPr>
          <a:xfrm flipV="true">
            <a:off x="5864749" y="3377577"/>
            <a:ext cx="2357502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AutoShape 12" id="12"/>
          <p:cNvSpPr/>
          <p:nvPr/>
        </p:nvSpPr>
        <p:spPr>
          <a:xfrm>
            <a:off x="5864749" y="3377577"/>
            <a:ext cx="2085858" cy="1332838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13" id="13"/>
          <p:cNvSpPr txBox="true"/>
          <p:nvPr/>
        </p:nvSpPr>
        <p:spPr>
          <a:xfrm rot="0">
            <a:off x="10220606" y="1596107"/>
            <a:ext cx="5798863" cy="83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</a:t>
            </a:r>
            <a:r>
              <a:rPr lang="en-US" sz="2400" spc="-4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endimiento de vanguardia en una amplia gama de tareas altamente complejas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20606" y="2931753"/>
            <a:ext cx="6078511" cy="83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 modelo optimizado en rendimiento, tanto en términos de costo como de latencia.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20606" y="4396421"/>
            <a:ext cx="5957970" cy="83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spc="-4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 m</a:t>
            </a:r>
            <a:r>
              <a:rPr lang="en-US" sz="2400" spc="-4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odelo más eficiente, diseñado para ejecutarse en el dispositivo.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D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610080" y="6272809"/>
            <a:ext cx="11328735" cy="13095"/>
          </a:xfrm>
          <a:prstGeom prst="line">
            <a:avLst/>
          </a:prstGeom>
          <a:ln cap="flat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578523" y="5756434"/>
            <a:ext cx="1031558" cy="103155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7A35"/>
            </a:solidFill>
            <a:ln w="28575" cap="sq">
              <a:solidFill>
                <a:srgbClr val="C07A35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9858" y="5770721"/>
            <a:ext cx="1031558" cy="103155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7A35"/>
            </a:solidFill>
            <a:ln w="28575" cap="sq">
              <a:solidFill>
                <a:srgbClr val="C07A3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938816" y="5770721"/>
            <a:ext cx="1031558" cy="10315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7A35"/>
            </a:solidFill>
            <a:ln w="28575" cap="sq">
              <a:solidFill>
                <a:srgbClr val="C07A3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91561" y="5770721"/>
            <a:ext cx="1031558" cy="10315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07A35"/>
            </a:solidFill>
            <a:ln w="28575" cap="sq">
              <a:solidFill>
                <a:srgbClr val="C07A35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747084" y="7293279"/>
            <a:ext cx="5166091" cy="3041536"/>
          </a:xfrm>
          <a:custGeom>
            <a:avLst/>
            <a:gdLst/>
            <a:ahLst/>
            <a:cxnLst/>
            <a:rect r="r" b="b" t="t" l="l"/>
            <a:pathLst>
              <a:path h="3041536" w="5166091">
                <a:moveTo>
                  <a:pt x="0" y="0"/>
                </a:moveTo>
                <a:lnTo>
                  <a:pt x="5166091" y="0"/>
                </a:lnTo>
                <a:lnTo>
                  <a:pt x="5166091" y="3041536"/>
                </a:lnTo>
                <a:lnTo>
                  <a:pt x="0" y="3041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824975" y="775642"/>
            <a:ext cx="3259239" cy="3259239"/>
          </a:xfrm>
          <a:custGeom>
            <a:avLst/>
            <a:gdLst/>
            <a:ahLst/>
            <a:cxnLst/>
            <a:rect r="r" b="b" t="t" l="l"/>
            <a:pathLst>
              <a:path h="3259239" w="3259239">
                <a:moveTo>
                  <a:pt x="0" y="0"/>
                </a:moveTo>
                <a:lnTo>
                  <a:pt x="3259239" y="0"/>
                </a:lnTo>
                <a:lnTo>
                  <a:pt x="3259239" y="3259238"/>
                </a:lnTo>
                <a:lnTo>
                  <a:pt x="0" y="3259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50447" y="3671445"/>
            <a:ext cx="2510380" cy="6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spc="-14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Evaluación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70681" y="4460048"/>
            <a:ext cx="4069911" cy="83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MMLU como Benchmark en sus diversos modales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62448" y="7061312"/>
            <a:ext cx="2692598" cy="6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spc="-14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Pre-training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15013" y="7979549"/>
            <a:ext cx="4384653" cy="83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Usa SentencePiece tok</a:t>
            </a: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enizer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Pretraining de Dataset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19670" y="7061312"/>
            <a:ext cx="2907948" cy="6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spc="-14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Post-Training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02139" y="7979549"/>
            <a:ext cx="5743011" cy="209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Recopilación de Datos de Prompt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SFT sobre datos de demostración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Training de RM sobre datos de retroalimentación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RLHF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95641" y="5913106"/>
            <a:ext cx="419142" cy="632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96065" y="5913106"/>
            <a:ext cx="419142" cy="632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35477" y="5913106"/>
            <a:ext cx="419142" cy="632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09847" y="895350"/>
            <a:ext cx="5468306" cy="117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1"/>
              </a:lnSpc>
            </a:pPr>
            <a:r>
              <a:rPr lang="en-US" sz="6886">
                <a:solidFill>
                  <a:srgbClr val="333333"/>
                </a:solidFill>
                <a:latin typeface="Anton"/>
                <a:ea typeface="Anton"/>
                <a:cs typeface="Anton"/>
                <a:sym typeface="Anton"/>
              </a:rPr>
              <a:t>ENTRENAMIENTO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97769" y="5927394"/>
            <a:ext cx="419142" cy="632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spc="-144">
                <a:solidFill>
                  <a:srgbClr val="EBEAE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35961" y="3671445"/>
            <a:ext cx="2692598" cy="64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 spc="-144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Training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7305" y="4460048"/>
            <a:ext cx="4334957" cy="41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Aceleradores TPU v4 y TPU v5e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96113" y="6563675"/>
            <a:ext cx="5389250" cy="2694625"/>
          </a:xfrm>
          <a:custGeom>
            <a:avLst/>
            <a:gdLst/>
            <a:ahLst/>
            <a:cxnLst/>
            <a:rect r="r" b="b" t="t" l="l"/>
            <a:pathLst>
              <a:path h="2694625" w="5389250">
                <a:moveTo>
                  <a:pt x="0" y="0"/>
                </a:moveTo>
                <a:lnTo>
                  <a:pt x="5389250" y="0"/>
                </a:lnTo>
                <a:lnTo>
                  <a:pt x="5389250" y="2694625"/>
                </a:lnTo>
                <a:lnTo>
                  <a:pt x="0" y="2694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81483" y="3532329"/>
            <a:ext cx="7125033" cy="251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Mayor capacidad de refinamiento (44.5%), indicando únicamente qué elementos requieren revisión, pero no especificamos cómo revisarlos.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4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Capacidad de procesamiento mayor de 10 millones de tokens (400K  GPT5.2-Medium, 200K Claude-4.5-Opus)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49912" y="911842"/>
            <a:ext cx="1099485" cy="8754921"/>
            <a:chOff x="0" y="0"/>
            <a:chExt cx="289576" cy="23058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9576" cy="2305823"/>
            </a:xfrm>
            <a:custGeom>
              <a:avLst/>
              <a:gdLst/>
              <a:ahLst/>
              <a:cxnLst/>
              <a:rect r="r" b="b" t="t" l="l"/>
              <a:pathLst>
                <a:path h="2305823" w="289576">
                  <a:moveTo>
                    <a:pt x="0" y="0"/>
                  </a:moveTo>
                  <a:lnTo>
                    <a:pt x="289576" y="0"/>
                  </a:lnTo>
                  <a:lnTo>
                    <a:pt x="289576" y="2305823"/>
                  </a:lnTo>
                  <a:lnTo>
                    <a:pt x="0" y="230582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89576" cy="236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409847" y="895350"/>
            <a:ext cx="5468306" cy="117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1"/>
              </a:lnSpc>
            </a:pPr>
            <a:r>
              <a:rPr lang="en-US" sz="6886">
                <a:solidFill>
                  <a:srgbClr val="333333"/>
                </a:solidFill>
                <a:latin typeface="Anton"/>
                <a:ea typeface="Anton"/>
                <a:cs typeface="Anton"/>
                <a:sym typeface="Anton"/>
              </a:rPr>
              <a:t>FORTALEZAS</a:t>
            </a:r>
          </a:p>
        </p:txBody>
      </p:sp>
      <p:grpSp>
        <p:nvGrpSpPr>
          <p:cNvPr name="Group 8" id="8"/>
          <p:cNvGrpSpPr/>
          <p:nvPr/>
        </p:nvGrpSpPr>
        <p:grpSpPr>
          <a:xfrm rot="-10800000">
            <a:off x="16159815" y="911842"/>
            <a:ext cx="1099485" cy="8754921"/>
            <a:chOff x="0" y="0"/>
            <a:chExt cx="289576" cy="230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9576" cy="2305823"/>
            </a:xfrm>
            <a:custGeom>
              <a:avLst/>
              <a:gdLst/>
              <a:ahLst/>
              <a:cxnLst/>
              <a:rect r="r" b="b" t="t" l="l"/>
              <a:pathLst>
                <a:path h="2305823" w="289576">
                  <a:moveTo>
                    <a:pt x="0" y="0"/>
                  </a:moveTo>
                  <a:lnTo>
                    <a:pt x="289576" y="0"/>
                  </a:lnTo>
                  <a:lnTo>
                    <a:pt x="289576" y="2305823"/>
                  </a:lnTo>
                  <a:lnTo>
                    <a:pt x="0" y="2305823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89576" cy="236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068318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30314" y="696933"/>
            <a:ext cx="5468306" cy="117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1"/>
              </a:lnSpc>
            </a:pPr>
            <a:r>
              <a:rPr lang="en-US" sz="6886">
                <a:solidFill>
                  <a:srgbClr val="333333"/>
                </a:solidFill>
                <a:latin typeface="Anton"/>
                <a:ea typeface="Anton"/>
                <a:cs typeface="Anton"/>
                <a:sym typeface="Anton"/>
              </a:rPr>
              <a:t>LIMITACIONES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124357"/>
            <a:ext cx="6797888" cy="418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Falta de autonomía crítica, dificultad para evaluar su propio trabajo.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-4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Operaciones aritméticas con varios dígitos, respecto a otros modelos.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48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Utilizando LOCA-bench, observamos que la mayoría de los modelos, incluidos los de vanguardia y de código abierto, sufren una marcada caída en el rendimiento a medida que aumenta la longitud del contexto, y la brecha entre ellos se amplía en contextos más largos.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25650" y="766040"/>
            <a:ext cx="449657" cy="8754921"/>
            <a:chOff x="0" y="0"/>
            <a:chExt cx="118428" cy="230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428" cy="2305823"/>
            </a:xfrm>
            <a:custGeom>
              <a:avLst/>
              <a:gdLst/>
              <a:ahLst/>
              <a:cxnLst/>
              <a:rect r="r" b="b" t="t" l="l"/>
              <a:pathLst>
                <a:path h="2305823" w="118428">
                  <a:moveTo>
                    <a:pt x="0" y="0"/>
                  </a:moveTo>
                  <a:lnTo>
                    <a:pt x="118428" y="0"/>
                  </a:lnTo>
                  <a:lnTo>
                    <a:pt x="118428" y="2305823"/>
                  </a:lnTo>
                  <a:lnTo>
                    <a:pt x="0" y="2305823"/>
                  </a:ln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8428" cy="2362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BEA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6350" y="2907658"/>
            <a:ext cx="8115300" cy="307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 i="true" spc="-1200">
                <a:solidFill>
                  <a:srgbClr val="000000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Gracias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37496" y="7146487"/>
            <a:ext cx="9013008" cy="5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spc="-24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Deivy Paredes - Daniels Tinoco</a:t>
            </a:r>
          </a:p>
        </p:txBody>
      </p:sp>
      <p:sp>
        <p:nvSpPr>
          <p:cNvPr name="AutoShape 4" id="4"/>
          <p:cNvSpPr/>
          <p:nvPr/>
        </p:nvSpPr>
        <p:spPr>
          <a:xfrm>
            <a:off x="8747934" y="6419856"/>
            <a:ext cx="792133" cy="0"/>
          </a:xfrm>
          <a:prstGeom prst="line">
            <a:avLst/>
          </a:prstGeom>
          <a:ln cap="rnd" w="38100">
            <a:solidFill>
              <a:srgbClr val="C07A3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DAHEpOL7E-g</dc:identifier>
  <dcterms:modified xsi:type="dcterms:W3CDTF">2011-08-01T06:04:30Z</dcterms:modified>
  <cp:revision>1</cp:revision>
  <dc:title>Gemini</dc:title>
</cp:coreProperties>
</file>